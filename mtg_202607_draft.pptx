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99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000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5669280" cy="5669280"/>
          </a:xfrm>
          <a:prstGeom prst="ellipse">
            <a:avLst/>
          </a:prstGeom>
          <a:solidFill>
            <a:srgbClr val="2A4C86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206240" cy="4206240"/>
          </a:xfrm>
          <a:prstGeom prst="ellipse">
            <a:avLst/>
          </a:prstGeom>
          <a:solidFill>
            <a:srgbClr val="27467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YST × 半導体顧問 大幸秀成様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半導体関連 共創プロジェクト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DBD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協議用たたき台 ― 6つの論点と相談事項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384048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作成：YSタレント 前田　／　2026年6月23日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DBD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前回定例：2026/6/2（第1回共創MTG）　／　次回定例：7/17（予定）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本日協議したい6つの論点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468112" cy="1627632"/>
          </a:xfrm>
          <a:prstGeom prst="roundRect">
            <a:avLst>
              <a:gd name="adj" fmla="val 4494"/>
            </a:avLst>
          </a:prstGeom>
          <a:solidFill>
            <a:srgbClr val="EAF1FA"/>
          </a:solidFill>
          <a:ln w="12700">
            <a:solidFill>
              <a:srgbClr val="DCE3E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600200"/>
            <a:ext cx="777240" cy="7772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64208" y="1581912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トランスビジョン社の買収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664208" y="2194560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DC保守の収益性評価・割高論点・代替候補ソーシング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325880"/>
            <a:ext cx="5468112" cy="1627632"/>
          </a:xfrm>
          <a:prstGeom prst="roundRect">
            <a:avLst>
              <a:gd name="adj" fmla="val 4494"/>
            </a:avLst>
          </a:prstGeom>
          <a:solidFill>
            <a:srgbClr val="EAF1FA"/>
          </a:solidFill>
          <a:ln w="12700">
            <a:solidFill>
              <a:srgbClr val="DCE3E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9672" y="1600200"/>
            <a:ext cx="777240" cy="7772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6519672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470648" y="1581912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シンコム×フェニカ 横展開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470648" y="2194560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育成着地点の技術的妥当性・横展開先の選定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5468112" cy="1627632"/>
          </a:xfrm>
          <a:prstGeom prst="roundRect">
            <a:avLst>
              <a:gd name="adj" fmla="val 4494"/>
            </a:avLst>
          </a:prstGeom>
          <a:solidFill>
            <a:srgbClr val="EAF1FA"/>
          </a:solidFill>
          <a:ln w="12700">
            <a:solidFill>
              <a:srgbClr val="DCE3E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" y="3401568"/>
            <a:ext cx="777240" cy="7772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4015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64208" y="3383280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RISE-A 入会（申込）とその後の展開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664208" y="3995928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入会後の展開・ネットワーク活用・セミナー連動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3127248"/>
            <a:ext cx="5468112" cy="1627632"/>
          </a:xfrm>
          <a:prstGeom prst="roundRect">
            <a:avLst>
              <a:gd name="adj" fmla="val 4494"/>
            </a:avLst>
          </a:prstGeom>
          <a:solidFill>
            <a:srgbClr val="EAF1FA"/>
          </a:solidFill>
          <a:ln w="12700">
            <a:solidFill>
              <a:srgbClr val="DCE3E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9672" y="3401568"/>
            <a:ext cx="777240" cy="7772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34015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470648" y="3383280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前回MTG（6/2）の振り返り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470648" y="3995928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90日アクション確定・成功報酬の叩き台・紹介推進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928616"/>
            <a:ext cx="5468112" cy="1627632"/>
          </a:xfrm>
          <a:prstGeom prst="roundRect">
            <a:avLst>
              <a:gd name="adj" fmla="val 4494"/>
            </a:avLst>
          </a:prstGeom>
          <a:solidFill>
            <a:srgbClr val="EAF1FA"/>
          </a:solidFill>
          <a:ln w="12700">
            <a:solidFill>
              <a:srgbClr val="DCE3E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3232" y="5202936"/>
            <a:ext cx="777240" cy="7772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520293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664208" y="5184648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今後のセミナー企画 草案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1664208" y="5797296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テーマ訴求軸・登壇者紹介・開催形態の選択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4928616"/>
            <a:ext cx="5468112" cy="1627632"/>
          </a:xfrm>
          <a:prstGeom prst="roundRect">
            <a:avLst>
              <a:gd name="adj" fmla="val 4494"/>
            </a:avLst>
          </a:prstGeom>
          <a:solidFill>
            <a:srgbClr val="EAF1FA"/>
          </a:solidFill>
          <a:ln w="12700">
            <a:solidFill>
              <a:srgbClr val="DCE3E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19672" y="5202936"/>
            <a:ext cx="777240" cy="7772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2" name="Text 30"/>
          <p:cNvSpPr/>
          <p:nvPr/>
        </p:nvSpPr>
        <p:spPr>
          <a:xfrm>
            <a:off x="6519672" y="520293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470648" y="5184648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アプリ（ダッシュボード）活用・改善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7470648" y="5797296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運用ルール・共有範囲・改善優先度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トランスビジョン社の買収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720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80744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現状整理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64208"/>
            <a:ext cx="6355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DC事業がVertiv「日本初」ASP契約を経て実稼働（5年契約）</a:t>
            </a:r>
            <a:endParaRPr lang="en-US" sz="125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印西DC（Google向け）：24/7稼働中→最終300〜400ユニットへ</a:t>
            </a:r>
            <a:endParaRPr lang="en-US" sz="125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見積中32件（1年前は1件）／米軍基地DC・CMMCも成長ドライバー</a:t>
            </a:r>
            <a:endParaRPr lang="en-US" sz="125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FY35赤字（売上97M・損失14M）→ FY36黒字化見通し</a:t>
            </a:r>
            <a:endParaRPr lang="en-US" sz="125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希望8億円（現金2.5億＋事業価値5.5億）／M&amp;A総合研究所経由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6720840" cy="1481328"/>
          </a:xfrm>
          <a:prstGeom prst="roundRect">
            <a:avLst>
              <a:gd name="adj" fmla="val 4938"/>
            </a:avLst>
          </a:prstGeom>
          <a:solidFill>
            <a:srgbClr val="FBF0EC"/>
          </a:solidFill>
          <a:ln w="12700">
            <a:solidFill>
              <a:srgbClr val="DCE3E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803904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55A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主要リスク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4078224"/>
            <a:ext cx="6355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割高：実質5.5億は未実証のFY36 DC収益（幅1.5〜5.0億）が前提</a:t>
            </a:r>
            <a:endParaRPr lang="en-US" sz="1200" dirty="0"/>
          </a:p>
          <a:p>
            <a:pPr marL="342900" indent="-342900" algn="l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依存：Vertiv 80〜90%／有資格者2〜3名・Erik氏個人に属人化</a:t>
            </a:r>
            <a:endParaRPr lang="en-US" sz="1200" dirty="0"/>
          </a:p>
          <a:p>
            <a:pPr marL="342900" indent="-342900" algn="l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シナジー大：YSTの海外エンジニア供給が成長ボトルネックを解消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60920" y="1234440"/>
            <a:ext cx="4370832" cy="3904488"/>
          </a:xfrm>
          <a:prstGeom prst="roundRect">
            <a:avLst>
              <a:gd name="adj" fmla="val 1874"/>
            </a:avLst>
          </a:prstGeom>
          <a:solidFill>
            <a:srgbClr val="FCE4D6"/>
          </a:solidFill>
          <a:ln w="19050">
            <a:solidFill>
              <a:srgbClr val="C55A11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62088" y="1371600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43C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◆ 大幸さんへの相談事項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62088" y="1801368"/>
            <a:ext cx="3968496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DC保守の収益性評価（交換頻度・安定収益性のエビデンス）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「保守だけでは弱い」― アップグレード提供体制の見極め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技術の出所／CMMC認証が社長個人保有の懸念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DC産業の俯瞰図（世代交代・技術ロードマップ）づくり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黒字・割安な代替候補の並行ソーシング・相対比較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固定対価圧縮＋アーンアウトの条件設計・CoC条項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5257800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5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※財務推移グラフは別紙参照（過去の高収益は撤退方針の派遣事業由来）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シンコム×フェニカ プロジェクトと横展開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7208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80744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現状整理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64208"/>
            <a:ext cx="6355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三者モデル：YST（統括）×フェニカ大PSTC（設計育成）×YS Flora Lotus（日本語）</a:t>
            </a:r>
            <a:endParaRPr lang="en-US" sz="1250" dirty="0"/>
          </a:p>
          <a:p>
            <a:pPr marL="342900" indent="-342900" algn="l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シンコム（フジアルテ傘下・技術者68名）が5〜10名で開始に前向き</a:t>
            </a:r>
            <a:endParaRPr lang="en-US" sz="1250" dirty="0"/>
          </a:p>
          <a:p>
            <a:pPr marL="342900" indent="-342900" algn="l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ヌヴォトンは当初関心も検討の結果、導入には至らず</a:t>
            </a:r>
            <a:endParaRPr lang="en-US" sz="1250" dirty="0"/>
          </a:p>
          <a:p>
            <a:pPr marL="342900" indent="-342900" algn="l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7/22 or 28面接 → 8月研修（3〜4ヶ月）→ 来年1〜2月配属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6720840" cy="1664208"/>
          </a:xfrm>
          <a:prstGeom prst="roundRect">
            <a:avLst>
              <a:gd name="adj" fmla="val 4396"/>
            </a:avLst>
          </a:prstGeom>
          <a:solidFill>
            <a:srgbClr val="FBF0EC"/>
          </a:solidFill>
          <a:ln w="12700">
            <a:solidFill>
              <a:srgbClr val="DCE3E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621024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55A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最大の論点：技術ギャップと着地点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895344"/>
            <a:ext cx="6355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要求（GHz級MCMM・フルチップ統合）は未経験者には非現実的</a:t>
            </a:r>
            <a:endParaRPr lang="en-US" sz="1200" dirty="0"/>
          </a:p>
          <a:p>
            <a:pPr marL="342900" indent="-342900" algn="l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着地点：先輩の指示下で全体フロー理解＋軽微デバッグができる水準</a:t>
            </a:r>
            <a:endParaRPr lang="en-US" sz="1200" dirty="0"/>
          </a:p>
          <a:p>
            <a:pPr marL="342900" indent="-342900" algn="l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差別化：学生用でなくフェニカ独自の産業レベル教材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60920" y="1234440"/>
            <a:ext cx="4370832" cy="3904488"/>
          </a:xfrm>
          <a:prstGeom prst="roundRect">
            <a:avLst>
              <a:gd name="adj" fmla="val 1874"/>
            </a:avLst>
          </a:prstGeom>
          <a:solidFill>
            <a:srgbClr val="FCE4D6"/>
          </a:solidFill>
          <a:ln w="19050">
            <a:solidFill>
              <a:srgbClr val="C55A11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62088" y="1371600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43C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◆ 大幸さんへの相談事項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62088" y="1801368"/>
            <a:ext cx="3968496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着地点の妥当性（DB／タイミング収束・CTS・MCMM観点）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カリキュラムの目利き（CTS周波数・回路規模・実デバッグ）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横展開先（STEP2）の選定 ― デザインハウス／内製部門のご紹介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ポジショニング（コスト・ブリッジ人材・オフショア連動）の磨き方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将来構想（STEP3）：YST設計事業立上げ・買収の留意点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RISE-A への入会（申込）と、その後の展開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EAF1FA"/>
          </a:solidFill>
          <a:ln w="12700">
            <a:solidFill>
              <a:srgbClr val="DCE3E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20700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入会を申し込む方針。</a:t>
            </a:r>
            <a:r>
              <a:rPr lang="en-US" sz="13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RISE-Aは大幸さんもよくご存知の場で、既に講師としても招かれており、活用の幅を一気に広げられる。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6720840" cy="3081528"/>
          </a:xfrm>
          <a:prstGeom prst="roundRect">
            <a:avLst>
              <a:gd name="adj" fmla="val 237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203704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RISE-Aとは／親和性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487168"/>
            <a:ext cx="6355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半導体のユーザー・サプライヤー・サポーターを繋ぐ一般社団法人（2025/7設立・三井不動産連携）</a:t>
            </a:r>
            <a:endParaRPr lang="en-US" sz="120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ジェトロと業務協力覚書／新千歳空港にRISE GATE開設</a:t>
            </a:r>
            <a:endParaRPr lang="en-US" sz="120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6/22 MIT東京ヘルスサイエンス・半導体シンポ（医療×半導体）</a:t>
            </a:r>
            <a:endParaRPr lang="en-US" sz="120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6/23 IBM『AIが変える半導体設計』（設計人材）← 当社テーマと直結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069080"/>
          <a:ext cx="6355080" cy="1133856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会員種別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入会金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年会費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特別会員A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従業員101名以上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12万円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48万円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特別会員B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100名以下／非営利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3万円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12万円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特別会員C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その他個人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3千円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1.2万円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360920" y="2057400"/>
            <a:ext cx="4370832" cy="3081528"/>
          </a:xfrm>
          <a:prstGeom prst="roundRect">
            <a:avLst>
              <a:gd name="adj" fmla="val 2374"/>
            </a:avLst>
          </a:prstGeom>
          <a:solidFill>
            <a:srgbClr val="FCE4D6"/>
          </a:solidFill>
          <a:ln w="19050">
            <a:solidFill>
              <a:srgbClr val="C55A11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562088" y="2194560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43C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◆ 大幸さんへの相談事項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562088" y="2624328"/>
            <a:ext cx="3968496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入会後の展開方針（イベント・発信・接点の優先順位）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大幸さんのネットワーク（南川氏ら）でのセミナー枠・紹介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既に招かれている登壇枠との連携・協賛/共催の進め方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⑤セミナー企画（8〜9月／10〜11月）との具体的連動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前回MTG（2026/6/2）の振り返り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720840" cy="1600200"/>
          </a:xfrm>
          <a:prstGeom prst="roundRect">
            <a:avLst>
              <a:gd name="adj" fmla="val 4571"/>
            </a:avLst>
          </a:prstGeom>
          <a:solidFill>
            <a:srgbClr val="EAF1FA"/>
          </a:solidFill>
          <a:ln w="12700">
            <a:solidFill>
              <a:srgbClr val="DCE3E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80744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合意事項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64208"/>
            <a:ext cx="6355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戦略3軸に合意：①半導体深化 ②介護AI ③ASEAN海外展開</a:t>
            </a:r>
            <a:endParaRPr lang="en-US" sz="125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初期90日アクション定義／買収パイプライン5件</a:t>
            </a:r>
            <a:endParaRPr lang="en-US" sz="125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定例は原則水曜へ（次回 7/17）。大幸さん経由の紹介を積み上げるフェーズ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672084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072384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アクション進捗（6/2）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355848"/>
            <a:ext cx="6355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セミナー差込チラシ（A4両面）… 作成済</a:t>
            </a:r>
            <a:endParaRPr lang="en-US" sz="120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ライズへ企画意向を伝達 ／ パートナー団体へ再打診 … 進行</a:t>
            </a:r>
            <a:endParaRPr lang="en-US" sz="120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TransVision：交換エビデンス・アップグレード方針の確認 … ①で協議</a:t>
            </a:r>
            <a:endParaRPr lang="en-US" sz="120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DNP接触（DNP先行→凸版）／ 学研・小早川専務と会食 … 今月</a:t>
            </a:r>
            <a:endParaRPr lang="en-US" sz="120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中国ヒューマノイドメーカー接触・1台輸入の検討 … 進行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60920" y="1234440"/>
            <a:ext cx="4370832" cy="3904488"/>
          </a:xfrm>
          <a:prstGeom prst="roundRect">
            <a:avLst>
              <a:gd name="adj" fmla="val 1874"/>
            </a:avLst>
          </a:prstGeom>
          <a:solidFill>
            <a:srgbClr val="FCE4D6"/>
          </a:solidFill>
          <a:ln w="19050">
            <a:solidFill>
              <a:srgbClr val="C55A11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62088" y="1371600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43C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◆ 大幸さんへの相談事項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62088" y="1801368"/>
            <a:ext cx="3968496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90日アクションの担当・期限の確定と優先順位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大幸さん経由の紹介・面談の推進（KPI ≥25件）の最初の着手先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成功報酬（顧問契約 第4条）の叩き台の設計協議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ヒューマノイド×介護：東大関係者のご紹介・比較の深掘り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今後のセミナー企画 草案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方針：12月までに2回（①8〜9月／②10〜11月）。主催／協賛／既存参入の3パターンを検討。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532120" cy="2788920"/>
          </a:xfrm>
          <a:prstGeom prst="roundRect">
            <a:avLst>
              <a:gd name="adj" fmla="val 2623"/>
            </a:avLst>
          </a:prstGeom>
          <a:solidFill>
            <a:srgbClr val="EAF1FA"/>
          </a:solidFill>
          <a:ln w="12700">
            <a:solidFill>
              <a:srgbClr val="DCE3E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7556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A｜半導体ターゲット向け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2194560"/>
            <a:ext cx="5166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「AI時代の半導体設計を支えるベトナム設計人材」</a:t>
            </a:r>
            <a:endParaRPr lang="en-US" sz="115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対象：半導体メーカー・デザインハウス（経営/人事/設計）</a:t>
            </a:r>
            <a:endParaRPr lang="en-US" sz="115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構成：人材不足→海外展開→PSTC実例→大幸さん業界俯瞰</a:t>
            </a:r>
            <a:endParaRPr lang="en-US" sz="115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登壇：大幸さん＋前田／投げ込み先＝RISE-A</a:t>
            </a:r>
            <a:endParaRPr lang="en-US" sz="115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狙い：ベトナム興味喚起 → 人材導入・横展開へ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9632" y="1627632"/>
            <a:ext cx="5532120" cy="2788920"/>
          </a:xfrm>
          <a:prstGeom prst="roundRect">
            <a:avLst>
              <a:gd name="adj" fmla="val 2623"/>
            </a:avLst>
          </a:prstGeom>
          <a:solidFill>
            <a:srgbClr val="F2F7F2"/>
          </a:solidFill>
          <a:ln w="12700">
            <a:solidFill>
              <a:srgbClr val="DCE3E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7556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B｜介護等（半導体外）向け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2194560"/>
            <a:ext cx="5166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C5F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「介護現場へのAI・ヒューマノイド導入と外国人材の協働」</a:t>
            </a:r>
            <a:endParaRPr lang="en-US" sz="115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対象：介護施設運営・ヘルスケア団体・自治体</a:t>
            </a:r>
            <a:endParaRPr lang="en-US" sz="115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構成：人手/コスト→AI・ロボの現在地→協働モデル→将来像</a:t>
            </a:r>
            <a:endParaRPr lang="en-US" sz="115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登壇：前田＋大幸さん（＋東大・学研）／投げ込み先＝ヘルスケア団体</a:t>
            </a:r>
            <a:endParaRPr lang="en-US" sz="115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狙い：パイプ作り → 外国人材・コストダウンと抱き合わせ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572000"/>
            <a:ext cx="11274552" cy="1463040"/>
          </a:xfrm>
          <a:prstGeom prst="roundRect">
            <a:avLst>
              <a:gd name="adj" fmla="val 5000"/>
            </a:avLst>
          </a:prstGeom>
          <a:solidFill>
            <a:srgbClr val="FCE4D6"/>
          </a:solidFill>
          <a:ln w="19050">
            <a:solidFill>
              <a:srgbClr val="C55A11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470916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43C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◆ 大幸さんへの相談事項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" y="5138928"/>
            <a:ext cx="10872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テーマ訴求軸（大幸さんの持論＝広い視野・新規BM・協業共存の織込み）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登壇者・パネリストのご紹介（A=RISE-A/南川氏ライン、B=東大・医療系）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開催形態（主催/協賛/参入）の選択と、RISE-A枠・登壇枠の活用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アプリ（管理ダッシュボード）の活用と改善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720840" cy="1783080"/>
          </a:xfrm>
          <a:prstGeom prst="roundRect">
            <a:avLst>
              <a:gd name="adj" fmla="val 4103"/>
            </a:avLst>
          </a:prstGeom>
          <a:solidFill>
            <a:srgbClr val="EAF1FA"/>
          </a:solidFill>
          <a:ln w="12700">
            <a:solidFill>
              <a:srgbClr val="DCE3E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80744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活用方法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64208"/>
            <a:ext cx="6355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定例の共通アジェンダ・進捗管理ハブとして運用、議事録を蓄積</a:t>
            </a:r>
            <a:endParaRPr lang="en-US" sz="1250" dirty="0"/>
          </a:p>
          <a:p>
            <a:pPr marL="342900" indent="-342900" algn="l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営業ツール（A4チラシ）を大幸さんの紹介活動でそのまま活用</a:t>
            </a:r>
            <a:endParaRPr lang="en-US" sz="1250" dirty="0"/>
          </a:p>
          <a:p>
            <a:pPr marL="342900" indent="-342900" algn="l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KPI・商談ログで『大幸さん経由／その他』を区別し成功報酬の根拠を可視化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6720840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255264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538728"/>
            <a:ext cx="6355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端末ローカル保存 → クラウド共有（共有シート／Notion等）へ移行</a:t>
            </a:r>
            <a:endParaRPr lang="en-US" sz="120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ターゲットリスト（半導体/デザインハウス）の実データ投入・接触管理</a:t>
            </a:r>
            <a:endParaRPr lang="en-US" sz="120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商談ログのステージ管理（紹介→面談→MOU→受注）とKPI自動連動</a:t>
            </a:r>
            <a:endParaRPr lang="en-US" sz="1200" dirty="0"/>
          </a:p>
          <a:p>
            <a:pPr marL="342900" indent="-342900" algn="l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機微情報（買収候補・財務）のアクセス範囲・共有ルール整備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60920" y="1234440"/>
            <a:ext cx="4370832" cy="3904488"/>
          </a:xfrm>
          <a:prstGeom prst="roundRect">
            <a:avLst>
              <a:gd name="adj" fmla="val 1874"/>
            </a:avLst>
          </a:prstGeom>
          <a:solidFill>
            <a:srgbClr val="FCE4D6"/>
          </a:solidFill>
          <a:ln w="19050">
            <a:solidFill>
              <a:srgbClr val="C55A11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62088" y="1371600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43C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◆ 大幸さんへの相談事項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62088" y="1801368"/>
            <a:ext cx="3968496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運用ルール（更新責任・頻度・共有範囲）の取り決め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大幸さん側でモニタリングしたい指標・項目のご要望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5A2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機微情報の共有範囲とセキュリティ水準の確認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937760" cy="4937760"/>
          </a:xfrm>
          <a:prstGeom prst="ellipse">
            <a:avLst/>
          </a:prstGeom>
          <a:solidFill>
            <a:srgbClr val="27467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次回定例（7/17）に向けたネクストステップ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5087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AF1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トランスビジョン：収益性・アップグレード方針を確認し、アーンアウト含む条件設計と代替候補ソーシングを協議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40864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40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295144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AF1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シンコム×フェニカ：7/22 or 28面接へ候補者選別。横展開先（STEP2）の具体先を決定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27248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081528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AF1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RISE-A：入会を申し込み、入会後の展開（セミナー・登壇連携・紹介）を具体化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913632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386791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AF1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前回アクション：90日アクションの担当・期限を確定。成功報酬の叩き台を協議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700016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00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654296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AF1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セミナー：A・B各テーマの登壇者・開催形態・日程を確定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48640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486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54406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AF1F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ダッシュボード：運用ルール・共有範囲・改善優先度を合意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922</Words>
  <Application>Microsoft Office PowerPoint</Application>
  <PresentationFormat>ワイド画面</PresentationFormat>
  <Paragraphs>164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2" baseType="lpstr">
      <vt:lpstr>Yu Gothic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半導体共創PJ 協議たたき台</dc:title>
  <dc:subject>PptxGenJS Presentation</dc:subject>
  <dc:creator>YS Talent 前田</dc:creator>
  <cp:lastModifiedBy>智之 前田</cp:lastModifiedBy>
  <cp:revision>1</cp:revision>
  <dcterms:created xsi:type="dcterms:W3CDTF">2026-06-26T06:31:48Z</dcterms:created>
  <dcterms:modified xsi:type="dcterms:W3CDTF">2026-06-28T14:51:12Z</dcterms:modified>
</cp:coreProperties>
</file>